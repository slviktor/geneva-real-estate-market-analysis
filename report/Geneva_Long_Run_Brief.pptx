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5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60288"/>
            <a:ext cx="79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Geneva · Long-Term Price Dynamics · 1990–2025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Three independent sources, one conclusion: Geneva real estate roughly tripled since 1990.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2000" y="4624545"/>
            <a:ext cx="98280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Apartments: city +2.9%/yr nominal (+1.8% real), canton +2.5%/yr (+1.4% real) over 34 years. Houses: canton +2.5%/yr, Lake Geneva region +</a:t>
            </a:r>
            <a:r>
              <a:rPr lang="en-GB" sz="1400" dirty="0"/>
              <a:t>2</a:t>
            </a:r>
            <a:r>
              <a:rPr sz="1400" dirty="0"/>
              <a:t>.</a:t>
            </a:r>
            <a:r>
              <a:rPr lang="en-GB" sz="1400" dirty="0"/>
              <a:t>8</a:t>
            </a:r>
            <a:r>
              <a:rPr sz="1400" dirty="0"/>
              <a:t>%/yr. Prices roughly double every 25–28 years in nominal terms.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Official OCSTAT transactions and </a:t>
            </a:r>
            <a:r>
              <a:rPr sz="1400" dirty="0" err="1"/>
              <a:t>Wüest</a:t>
            </a:r>
            <a:r>
              <a:rPr sz="1400" dirty="0"/>
              <a:t> hedonic index show the same trajectory (correlation 0.99 on levels, 74–90% direction agreement). The trend is not an artifact of one measurement method.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Geneva follows the Swiss cycle but amplifies it: deeper corrections, steeper rises. CPI grew just +1.0%/yr — real estate outpaced inflation by +1.4–2.0 percentage points annually.</a:t>
            </a:r>
            <a:endParaRPr lang="ru-RU" sz="1400" dirty="0"/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endParaRPr sz="14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F33DC-E609-51F2-4FD5-39BBF29A71C0}"/>
              </a:ext>
            </a:extLst>
          </p:cNvPr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All indices: 1990 = 100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81B121-DE75-0BA3-6A10-2840CB62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991712"/>
            <a:ext cx="5265421" cy="3202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6A1195-756D-9820-0E60-727BE0C6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731" y="991711"/>
            <a:ext cx="4896082" cy="30942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Historical Drawdowns · What Happens After a Peak?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Apartments (PPE)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995" y="5683575"/>
            <a:ext cx="98280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Worst case: Geneva city fell −25% from peak and took 14 years to recover (1990–2004). Canton: −21%, 16 years. Switzerland nationally: only −10% — Geneva amplifies the cycle 2×.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The second cycle (2012–2021) was milder: −10 to −12%, recovery in 6–9 years. Shorter, shallower — potentially a more resilient market or different rate environment.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After every drawdown, the new peak substantially exceeded the previous one. Long-term holders were always rewarded — but the holding period matters.</a:t>
            </a:r>
            <a:endParaRPr lang="ru-RU" sz="1200" dirty="0"/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endParaRPr sz="1200" dirty="0"/>
          </a:p>
        </p:txBody>
      </p:sp>
      <p:sp>
        <p:nvSpPr>
          <p:cNvPr id="9" name="Rectangle 8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  <p:pic>
        <p:nvPicPr>
          <p:cNvPr id="11" name="Picture 10" descr="lr_05_drawdowns.png">
            <a:extLst>
              <a:ext uri="{FF2B5EF4-FFF2-40B4-BE49-F238E27FC236}">
                <a16:creationId xmlns:a16="http://schemas.microsoft.com/office/drawing/2014/main" id="{97BAF2DE-C974-61CE-37B6-E1E926E3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17" y="180000"/>
            <a:ext cx="7826783" cy="54368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4996" y="478952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What Size Apartment Is Actually Selling?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Geneva canton · 2006–2024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Proxy: median object price ÷ median CHF/m² — the implied typical floor area of a sold apartment.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r_08_implied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79" y="827999"/>
            <a:ext cx="7797600" cy="45514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5405965"/>
            <a:ext cx="98280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Existing apartments: ~120 m², remarkably stable (+0.1%/yr over 18 years). The composition of what sells has barely changed — a consistent market for 3–4 room flats.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New apartments: ~140 m² in 2024, trending upward since 2014 (from ~125 m²). Developers are building larger, higher-value units. Early years (2006–2012) show high volatility due to small sample sizes.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New apartments are ~17% larger than existing. This is a proxy (ratio of two medians, not median floor area directly), but the direction is consistent with market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Inflation, Construction Costs &amp; Growth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All indices: 1990 =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Real estate outpaced inflation by +1.4–2.0 p.p./year. Construction costs surged after 2020.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000" y="4752000"/>
            <a:ext cx="98280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Geneva CPI +1.0%/yr, construction costs +1.3%/yr (with a sharp acceleration after 2020). Real estate nominal growth of +2.5–3.1%/yr translates to +1.4–2.0%/yr above inflation.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Construction cost surge (+18% in 4 years) supports the new-build price premium and limits future supply growth — a structural tailwind for existing property values.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Data: OCSTAT (official notarial transactions), </a:t>
            </a:r>
            <a:r>
              <a:rPr sz="1400" dirty="0" err="1"/>
              <a:t>Wüest</a:t>
            </a:r>
            <a:r>
              <a:rPr sz="1400" dirty="0"/>
              <a:t> Partner (hedonic quality-adjusted index), BIS/FRED, BFS IMPI. Full methodology and code: GitHub.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  <p:pic>
        <p:nvPicPr>
          <p:cNvPr id="12" name="Picture 11" descr="lr_07_prices_vs_costs.png">
            <a:extLst>
              <a:ext uri="{FF2B5EF4-FFF2-40B4-BE49-F238E27FC236}">
                <a16:creationId xmlns:a16="http://schemas.microsoft.com/office/drawing/2014/main" id="{D45A2A9A-080B-FF48-D513-6FE0BC82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0" y="827998"/>
            <a:ext cx="4991340" cy="335489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203A87-4BE6-9F93-304A-D08329D4F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161117"/>
              </p:ext>
            </p:extLst>
          </p:nvPr>
        </p:nvGraphicFramePr>
        <p:xfrm>
          <a:off x="5345907" y="864000"/>
          <a:ext cx="4913906" cy="3341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/>
                        <a:t>Geography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/>
                        <a:t>Source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/>
                        <a:t>Index</a:t>
                      </a:r>
                      <a:br>
                        <a:rPr sz="1100" dirty="0"/>
                      </a:br>
                      <a:r>
                        <a:rPr sz="1100" dirty="0"/>
                        <a:t>(1990=100)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/>
                        <a:t>Nominal</a:t>
                      </a:r>
                      <a:br>
                        <a:rPr sz="1100"/>
                      </a:br>
                      <a:r>
                        <a:rPr sz="1100"/>
                        <a:t>/year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/>
                        <a:t>Real</a:t>
                      </a:r>
                      <a:br>
                        <a:rPr sz="1100" dirty="0"/>
                      </a:br>
                      <a:r>
                        <a:rPr sz="1100" dirty="0"/>
                        <a:t>/year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50"/>
                        <a:t>APARTMENTS (PPE, CHF/m²)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Geneva city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234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278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+3.0%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235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50"/>
                        <a:t>HOUSES (CHF/object)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232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231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50"/>
                        <a:t>INFLATION &amp; COSTS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5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Geneva CPI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144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73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Switzerland CPI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BFS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140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734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Geneva construction cost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160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/>
                        <a:t>+1.3%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100" dirty="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790</Words>
  <Application>Microsoft Office PowerPoint</Application>
  <PresentationFormat>Custom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8</cp:revision>
  <dcterms:created xsi:type="dcterms:W3CDTF">2013-01-27T09:14:16Z</dcterms:created>
  <dcterms:modified xsi:type="dcterms:W3CDTF">2026-08-24T12:39:15Z</dcterms:modified>
  <cp:category/>
</cp:coreProperties>
</file>
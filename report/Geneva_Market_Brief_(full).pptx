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151A1-F7FA-49AF-A7D0-F0790DBAA270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A6F76-0065-4875-9A25-73BB1F08FE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57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A6F76-0065-4875-9A25-73BB1F08FE0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1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1721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Geneva Canton · Residential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Official OCSTAT transactions · Q2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9581" y="3409015"/>
            <a:ext cx="473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3581" y="3409015"/>
            <a:ext cx="473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76" y="690083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B1099-27B0-7E15-81E3-9647E0D29D89}"/>
              </a:ext>
            </a:extLst>
          </p:cNvPr>
          <p:cNvSpPr txBox="1"/>
          <p:nvPr/>
        </p:nvSpPr>
        <p:spPr>
          <a:xfrm>
            <a:off x="431626" y="513711"/>
            <a:ext cx="97249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review answers three practical questions about the Geneva residential market: what prices look like today, how we got here, and where the value differs by commune.</a:t>
            </a:r>
            <a:r>
              <a:rPr lang="ru-RU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All figures are derived from official notarial transaction records published by the Canton of Geneva (OCSTAT). These are completed sales registered with a notary — not listing prices, bank appraisals, or survey estimates. The dataset covers condominium apartments (PPE) and detached houses across all 45 communes.</a:t>
            </a:r>
          </a:p>
          <a:p>
            <a:r>
              <a:rPr lang="en-GB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Annual data through 2024 · Quarterly data through Q2 2026</a:t>
            </a:r>
          </a:p>
          <a:p>
            <a:endParaRPr lang="en-GB" sz="1400" i="1" dirty="0"/>
          </a:p>
        </p:txBody>
      </p:sp>
      <p:pic>
        <p:nvPicPr>
          <p:cNvPr id="15" name="Picture 14" descr="09_q_latest_avg_ticket.png">
            <a:extLst>
              <a:ext uri="{FF2B5EF4-FFF2-40B4-BE49-F238E27FC236}">
                <a16:creationId xmlns:a16="http://schemas.microsoft.com/office/drawing/2014/main" id="{E44D26BC-425F-9E1B-1B38-468D5C052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17" y="1812118"/>
            <a:ext cx="4734000" cy="26183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E8FCAD-BB04-0914-66A3-5AFA8708D47E}"/>
              </a:ext>
            </a:extLst>
          </p:cNvPr>
          <p:cNvSpPr txBox="1"/>
          <p:nvPr/>
        </p:nvSpPr>
        <p:spPr>
          <a:xfrm>
            <a:off x="470976" y="4710880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12E238-5B68-2887-D259-A5552047203A}"/>
              </a:ext>
            </a:extLst>
          </p:cNvPr>
          <p:cNvSpPr txBox="1"/>
          <p:nvPr/>
        </p:nvSpPr>
        <p:spPr>
          <a:xfrm>
            <a:off x="432372" y="4998589"/>
            <a:ext cx="4811209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A house costs on average 2× more than an apartment (3.6M vs 1.8M CHF).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New apartment average rose +56% YoY — driven by several large projects closing, not a broad market-wide price increase.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Existing house average (3.6M) is pushed up by luxury transactions in premium communes (</a:t>
            </a:r>
            <a:r>
              <a:rPr sz="1100" dirty="0" err="1"/>
              <a:t>Cologny</a:t>
            </a:r>
            <a:r>
              <a:rPr sz="1100" dirty="0"/>
              <a:t>, </a:t>
            </a:r>
            <a:r>
              <a:rPr sz="1100" dirty="0" err="1"/>
              <a:t>Vandoeuvres</a:t>
            </a:r>
            <a:r>
              <a:rPr sz="1100" dirty="0"/>
              <a:t>).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New and existing apartment prices are similar (~1.8–2.0M per transaction).</a:t>
            </a:r>
          </a:p>
        </p:txBody>
      </p:sp>
      <p:pic>
        <p:nvPicPr>
          <p:cNvPr id="18" name="Picture 17" descr="14_q_latest_existing_range.png">
            <a:extLst>
              <a:ext uri="{FF2B5EF4-FFF2-40B4-BE49-F238E27FC236}">
                <a16:creationId xmlns:a16="http://schemas.microsoft.com/office/drawing/2014/main" id="{BD9871C0-9DFD-B407-52D1-F2FE46F7A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000" y="1811217"/>
            <a:ext cx="4734000" cy="25823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4AEB4A-B2B6-644B-07E7-04508605F4EC}"/>
              </a:ext>
            </a:extLst>
          </p:cNvPr>
          <p:cNvSpPr txBox="1"/>
          <p:nvPr/>
        </p:nvSpPr>
        <p:spPr>
          <a:xfrm>
            <a:off x="5577417" y="4710880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29E7B0-41CC-7460-40C7-9AF4FDFE0B00}"/>
              </a:ext>
            </a:extLst>
          </p:cNvPr>
          <p:cNvSpPr txBox="1"/>
          <p:nvPr/>
        </p:nvSpPr>
        <p:spPr>
          <a:xfrm>
            <a:off x="5526372" y="4998589"/>
            <a:ext cx="4811209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Half of house buyers pay between 1.6M and 3.2M CHF — prices vary significantly by commune and property type.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Apartments are more predictable: 75% of transactions fall within 1.0–1.9M.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</a:t>
            </a:r>
            <a:r>
              <a:rPr lang="en-GB" sz="1100" dirty="0"/>
              <a:t>Apartment P75 (~1.9M) meets house P25 (~1.6M) — at this price, a buyer chooses between a large apartment or a modest house.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House median stable at 2.10M (−2.1% YoY), apartment median 1.40M (+3.5% YoY).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E6B13-1703-FC1F-EB0C-699F2EC78C57}"/>
              </a:ext>
            </a:extLst>
          </p:cNvPr>
          <p:cNvSpPr txBox="1"/>
          <p:nvPr/>
        </p:nvSpPr>
        <p:spPr>
          <a:xfrm>
            <a:off x="431626" y="6980294"/>
            <a:ext cx="982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 · Canton of Geneva · YoY vs Q2 2025 · Chart 1: average ticket (value/n), not median · Chart 2: official OCSTAT medians + P25–P75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900" dirty="0"/>
            </a:br>
            <a:r>
              <a:rPr lang="en-GB" sz="900" dirty="0"/>
              <a:t>Author's analysis · Raw data: OCSTAT T 05.05 series · Methodology and code:</a:t>
            </a:r>
            <a:r>
              <a:rPr lang="ru-RU" sz="900" dirty="0"/>
              <a:t> </a:t>
            </a:r>
            <a:r>
              <a:rPr lang="en-GB" sz="900" dirty="0"/>
              <a:t>https://github.com/slviktor/geneva-real-estate-market-analysis</a:t>
            </a:r>
            <a:endParaRPr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10938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Price per m² · Canton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Notarial transactions · Annual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6b_apartments_2024_quar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540000"/>
            <a:ext cx="4734000" cy="30615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3773356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626" y="4111449"/>
            <a:ext cx="4733813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Existing apartments (10,853 CHF/m²) are 5.5% more expensive than new (10,284) at canton level — counterintuitive.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Secondary market is 2.1× larger: 828 existing vs 395 new transactions.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Both grew ~2.4% YoY — market moves uniformly, not by segment.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Existing P25–P75 range (8.9–12.9K) is 1.7× wider than new (9.3–11.6K) — more diverse locations.</a:t>
            </a:r>
          </a:p>
        </p:txBody>
      </p:sp>
      <p:pic>
        <p:nvPicPr>
          <p:cNvPr id="9" name="Picture 8" descr="04c_new_vs_existing_comm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29" y="540000"/>
            <a:ext cx="5243715" cy="385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6000" y="4524999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6000" y="4816592"/>
            <a:ext cx="473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Within each commune, new costs 17–29% MORE than existing — the opposite of the canton-level picture.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This is a composition effect: new builds concentrate in affordable communes (</a:t>
            </a:r>
            <a:r>
              <a:rPr sz="1100" dirty="0" err="1"/>
              <a:t>Thônex</a:t>
            </a:r>
            <a:r>
              <a:rPr sz="1100" dirty="0"/>
              <a:t>, </a:t>
            </a:r>
            <a:r>
              <a:rPr sz="1100" dirty="0" err="1"/>
              <a:t>Meyrin</a:t>
            </a:r>
            <a:r>
              <a:rPr sz="1100" dirty="0"/>
              <a:t>, Bernex), while existing stock trades everywhere including premium locations.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Bernex has the highest new-build premium (+29%), likely single large project at n=15.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Practical: “new is cheaper” is a geographic illusion — same neighborhood, same m², new always costs more.</a:t>
            </a:r>
            <a:endParaRPr lang="en-GB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626" y="6980294"/>
            <a:ext cx="982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sz="900" dirty="0"/>
              <a:t>Source: OCSTAT T 05.05.1.4.03 · Canton of Geneva · All prices = completed notarial transactions, not listings or appraisals · CHF per square meter, free-market apartments (PPE)</a:t>
            </a:r>
            <a:endParaRPr lang="en-GB" sz="900" dirty="0"/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900" dirty="0"/>
            </a:br>
            <a:r>
              <a:rPr lang="en-GB" sz="900" dirty="0"/>
              <a:t>Author's analysis · Raw data: OCSTAT T 05.05 series · Methodology and code:</a:t>
            </a:r>
            <a:r>
              <a:rPr lang="ru-RU" sz="900" dirty="0"/>
              <a:t> </a:t>
            </a:r>
            <a:r>
              <a:rPr lang="en-GB" sz="900" dirty="0"/>
              <a:t>https://github.com/slviktor/geneva-real-estate-market-analysis</a:t>
            </a:r>
            <a:endParaRPr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91830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/>
              <a:t>Price per m² · Communes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Notarial transactions · Annual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1813" y="4946477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5221839"/>
            <a:ext cx="4734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1.8× price gap: Vernier (7,182 CHF/m²) vs Genève (12,597). Same canton, 75% more living space for same budget.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Only 4 communes above canton median (10,853): Genève, </a:t>
            </a:r>
            <a:r>
              <a:rPr sz="1100" dirty="0" err="1"/>
              <a:t>Carouge</a:t>
            </a:r>
            <a:r>
              <a:rPr sz="1100" dirty="0"/>
              <a:t>, </a:t>
            </a:r>
            <a:r>
              <a:rPr sz="1100" dirty="0" err="1"/>
              <a:t>Cologny</a:t>
            </a:r>
            <a:r>
              <a:rPr sz="1100" dirty="0"/>
              <a:t>, </a:t>
            </a:r>
            <a:r>
              <a:rPr sz="1100" dirty="0" err="1"/>
              <a:t>Chêne-Bougeries</a:t>
            </a:r>
            <a:r>
              <a:rPr sz="1100" dirty="0"/>
              <a:t>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</a:t>
            </a:r>
            <a:r>
              <a:rPr sz="1100" dirty="0" err="1"/>
              <a:t>Carouge</a:t>
            </a:r>
            <a:r>
              <a:rPr sz="1100" dirty="0"/>
              <a:t>: strongest growth (+15.9% YoY) among premium communes.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</a:t>
            </a:r>
            <a:r>
              <a:rPr sz="1100" dirty="0" err="1"/>
              <a:t>Veyrier</a:t>
            </a:r>
            <a:r>
              <a:rPr sz="1100" dirty="0"/>
              <a:t> (−13.2%) and Plan-les-</a:t>
            </a:r>
            <a:r>
              <a:rPr sz="1100" dirty="0" err="1"/>
              <a:t>Ouates</a:t>
            </a:r>
            <a:r>
              <a:rPr sz="1100" dirty="0"/>
              <a:t> (−5.8%) declined — but at n=18 and n=12, this may be statistical noise.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pic>
        <p:nvPicPr>
          <p:cNvPr id="9" name="Picture 8" descr="04b_ppe_rang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000" y="540000"/>
            <a:ext cx="4734000" cy="2918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5813" y="3880206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813" y="4240205"/>
            <a:ext cx="47340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Only 5 of 45 communes have enough new-apartment data (n≥10)</a:t>
            </a:r>
            <a:r>
              <a:rPr lang="ru-RU" sz="1100" dirty="0"/>
              <a:t> </a:t>
            </a:r>
            <a:r>
              <a:rPr lang="en-GB" sz="1100" dirty="0"/>
              <a:t>in 2024</a:t>
            </a:r>
            <a:r>
              <a:rPr sz="1100" dirty="0"/>
              <a:t> — market is extremely concentrated.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Two tiers: affordable (</a:t>
            </a:r>
            <a:r>
              <a:rPr sz="1100" dirty="0" err="1"/>
              <a:t>Meyrin</a:t>
            </a:r>
            <a:r>
              <a:rPr sz="1100" dirty="0"/>
              <a:t>, </a:t>
            </a:r>
            <a:r>
              <a:rPr sz="1100" dirty="0" err="1"/>
              <a:t>Thônex</a:t>
            </a:r>
            <a:r>
              <a:rPr sz="1100" dirty="0"/>
              <a:t>, Bernex at 10–11K) vs premium (Genève, </a:t>
            </a:r>
            <a:r>
              <a:rPr sz="1100" dirty="0" err="1"/>
              <a:t>Cologny</a:t>
            </a:r>
            <a:r>
              <a:rPr sz="1100" dirty="0"/>
              <a:t> at 15–16K).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Genève new +23.1% YoY — not market growth but a few luxury project closings (n=27).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Communes appear and disappear from the statistics each year — new-build market is structurally volatile.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D9A4C-69FA-92C9-4F24-791AEE20F71F}"/>
              </a:ext>
            </a:extLst>
          </p:cNvPr>
          <p:cNvSpPr txBox="1"/>
          <p:nvPr/>
        </p:nvSpPr>
        <p:spPr>
          <a:xfrm>
            <a:off x="431906" y="7002200"/>
            <a:ext cx="982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05.05.1.4.03 · Canton of Geneva · Unpublished communes (n&lt;10) omitted, not zero · YoY vs 2023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900" dirty="0"/>
            </a:br>
            <a:r>
              <a:rPr lang="en-GB" sz="900" dirty="0"/>
              <a:t>Author's analysis · Raw data: OCSTAT T 05.05 series · Methodology and code:</a:t>
            </a:r>
            <a:r>
              <a:rPr lang="ru-RU" sz="900" dirty="0"/>
              <a:t> </a:t>
            </a:r>
            <a:r>
              <a:rPr lang="en-GB" sz="900" dirty="0"/>
              <a:t>https://github.com/slviktor/geneva-real-estate-market-analysis</a:t>
            </a:r>
            <a:endParaRPr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66EEB8-F862-D9C2-7A31-05A29531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12" y="540000"/>
            <a:ext cx="4892213" cy="4415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1813" y="121159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Long-term Trends · How We Got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Canton of Geneva · Annual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3882533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/>
              <a:t>Apartments (CHF/m²)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292901"/>
            <a:ext cx="4734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Median roughly doubled since 2006: from ~5,300 to ~10,900 CHF/m².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Fast growth 2006–2012 (+80%), then a 8-year plateau (2012–2020), followed by renewed acceleration.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P25–P75 band has remained relatively stable in width — the entire distribution shifted upward, not just the top.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Even during the 2012–2020 plateau, prices never fell below 2012 levels — no sustained downward correction.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5525813" y="3936743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97706"/>
                </a:solidFill>
                <a:latin typeface="Calibri"/>
              </a:defRPr>
            </a:pPr>
            <a:r>
              <a:rPr sz="1200" dirty="0"/>
              <a:t>Houses (CHF per dwelling)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6000" y="4255514"/>
            <a:ext cx="4734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Median house tripled since the mid-1990s: from ~0.75M to ~2.2M CHF.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1990–2004: decade of stagnation (flat at ~0.8–1.0M). 2004–2012: sharp rally to ~1.8M.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Post-2020: P25–P75 band has widened dramatically — growing divergence between affordable and premium houses.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Note: OCSTAT publishes house prices per dwelling (not per m²) — not directly comparable to apartment data.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EB2E4-F80C-0AAC-4066-F421CB120F6B}"/>
              </a:ext>
            </a:extLst>
          </p:cNvPr>
          <p:cNvSpPr txBox="1"/>
          <p:nvPr/>
        </p:nvSpPr>
        <p:spPr>
          <a:xfrm>
            <a:off x="431906" y="7002200"/>
            <a:ext cx="982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 · Canton of Geneva · Left: existing PPE, free market, CHF/m² · Right: detached houses, CHF per dwelling · Band = P25–P75 of transactions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900" dirty="0"/>
            </a:br>
            <a:r>
              <a:rPr lang="en-GB" sz="900" dirty="0"/>
              <a:t>Author's analysis · Raw data: OCSTAT T 05.05 series · Methodology and code:</a:t>
            </a:r>
            <a:r>
              <a:rPr lang="ru-RU" sz="900" dirty="0"/>
              <a:t> </a:t>
            </a:r>
            <a:r>
              <a:rPr lang="en-GB" sz="900" dirty="0"/>
              <a:t>https://github.com/slviktor/geneva-real-estate-market-analysis</a:t>
            </a:r>
            <a:endParaRPr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492714-38C1-B711-8966-2740ACB2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5" y="542218"/>
            <a:ext cx="5242531" cy="29016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934775-22CD-4565-4A59-987D16BB4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906" y="542218"/>
            <a:ext cx="5242531" cy="2942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40246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Market Resilience · Shocks &amp; Growth by Commune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Canton of Geneva · Annual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1812" y="4049221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13" y="4248000"/>
            <a:ext cx="5046398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▸ Apartment median keeps climbing (+13% over 6 quarters to 1.40M); house median is plateauing at ~2.1M — two markets are diverging.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▸ Three macro shocks (2008, COVID, 2022 rate hikes) produced no sustained median decline — 1–2 quarters of correction at most.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▸ House P75 surged +64% in 2021–2023 (2.5M → 4.1M), then retreated — premium segment reacts, median absorbs.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▸ Apartment P75 grew modestly (+18%) — houses have a higher and more volatile ceiling.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P25 barely moves: apartments ~0.9–1.0M, houses ~1.5–1.7M — a structural price floor.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▸ House corridor (P75–P25) widened 33% since 2019; apartment corridor is stable — house market is polarizing.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lang="en-GB" sz="1100" dirty="0"/>
              <a:t>Note: –36% drawdown is a composition shift (which apartments sold), not a real price drop. Annual CHF/m² shows max –12% over 4 years.</a:t>
            </a:r>
            <a:endParaRPr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5478211" y="3474362"/>
            <a:ext cx="47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3387" y="3779837"/>
            <a:ext cx="47340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Expensive ≠ fast-growing. </a:t>
            </a:r>
            <a:r>
              <a:rPr sz="1100" dirty="0" err="1"/>
              <a:t>Cologny</a:t>
            </a:r>
            <a:r>
              <a:rPr sz="1100" dirty="0"/>
              <a:t>: 12.3K/m² but only 1.1% CAGR. </a:t>
            </a:r>
            <a:r>
              <a:rPr sz="1100" dirty="0" err="1"/>
              <a:t>Carouge</a:t>
            </a:r>
            <a:r>
              <a:rPr sz="1100" dirty="0"/>
              <a:t>: similar price, 3.5% CAGR.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Vernier: cheapest (7.2K/m²) yet 2.4% CAGR over 10 years — catch-up growth from a low base.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Genève city: highest absolute price (12.6K) but lowest CAGR (1.2%) — already mature, limited upside.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100" dirty="0"/>
              <a:t>▸ Practical: for long-term value, look at Lancy, Vernier — not the most expensive communes.</a:t>
            </a:r>
            <a:endParaRPr lang="ru-RU" sz="11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BA15E-EC7E-91C6-DB6C-521340C4F7AA}"/>
              </a:ext>
            </a:extLst>
          </p:cNvPr>
          <p:cNvSpPr txBox="1"/>
          <p:nvPr/>
        </p:nvSpPr>
        <p:spPr>
          <a:xfrm>
            <a:off x="431906" y="7002200"/>
            <a:ext cx="982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 · Canton of Geneva · Left: YoY % changes, annual · Right: 10-year CAGR 2014–2024, existing PPE, free market · Author’s calculations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900" dirty="0"/>
            </a:br>
            <a:r>
              <a:rPr lang="en-GB" sz="900" dirty="0"/>
              <a:t>Author's analysis · Raw data: OCSTAT T 05.05 series · Methodology and code:</a:t>
            </a:r>
            <a:r>
              <a:rPr lang="ru-RU" sz="900" dirty="0"/>
              <a:t> </a:t>
            </a:r>
            <a:r>
              <a:rPr lang="en-GB" sz="900" dirty="0"/>
              <a:t>https://github.com/slviktor/geneva-real-estate-market-analysis</a:t>
            </a:r>
            <a:endParaRPr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82B9DB-129B-DE20-1CF2-77327D9BF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000" y="568800"/>
            <a:ext cx="4588774" cy="27789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872071-58B9-2486-B0E4-56E4BB64F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561800"/>
            <a:ext cx="4401188" cy="35122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1813" y="111446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Geography · Apartment Prices per m²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Existing PPE · Free market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2000" y="720000"/>
            <a:ext cx="38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563EB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140" y="5583616"/>
            <a:ext cx="991953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The price gradient runs east-west: premium communes (Genève, </a:t>
            </a:r>
            <a:r>
              <a:rPr sz="1000" dirty="0" err="1"/>
              <a:t>Cologny</a:t>
            </a:r>
            <a:r>
              <a:rPr sz="1000" dirty="0"/>
              <a:t>, </a:t>
            </a:r>
            <a:r>
              <a:rPr sz="1000" dirty="0" err="1"/>
              <a:t>Chêne-Bougeries</a:t>
            </a:r>
            <a:r>
              <a:rPr sz="1000" dirty="0"/>
              <a:t>) cluster along the lake shore at 12–12.5K CHF/m².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Western suburbs (Vernier, Bernex, </a:t>
            </a:r>
            <a:r>
              <a:rPr sz="1000" dirty="0" err="1"/>
              <a:t>Meyrin</a:t>
            </a:r>
            <a:r>
              <a:rPr sz="1000" dirty="0"/>
              <a:t>) offer 30–40% lower prices per m² — same canton, very different value proposition.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</a:t>
            </a:r>
            <a:r>
              <a:rPr sz="1000" dirty="0" err="1"/>
              <a:t>Carouge</a:t>
            </a:r>
            <a:r>
              <a:rPr sz="1000" dirty="0"/>
              <a:t> stands out: +16% YoY with 12.4K/m² — catching up to the premium lakeside communes.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</a:t>
            </a:r>
            <a:r>
              <a:rPr sz="1000" dirty="0" err="1"/>
              <a:t>Veyrier</a:t>
            </a:r>
            <a:r>
              <a:rPr sz="1000" dirty="0"/>
              <a:t> (−13%) and Vernier (−11%) declined YoY, but small sample sizes (n=18 and n=73) may explain the drop.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Grey communes have fewer than 10 transactions — OCSTAT does not publish a median for them.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00" dirty="0"/>
              <a:t>▸ 1.8× price range across the canton: same 60m² apartment costs 430K in Vernier vs 750K in </a:t>
            </a:r>
            <a:r>
              <a:rPr sz="1000" dirty="0" err="1"/>
              <a:t>Cologny</a:t>
            </a:r>
            <a:r>
              <a:rPr sz="1000" dirty="0"/>
              <a:t>.</a:t>
            </a:r>
            <a:endParaRPr lang="en-US" sz="1000" dirty="0"/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9" name="Rectangle 8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52C2C4-2624-D99C-13E7-723181E4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4" y="111446"/>
            <a:ext cx="8245739" cy="53816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8FFAD-7B73-892E-2092-C522B9A136BE}"/>
              </a:ext>
            </a:extLst>
          </p:cNvPr>
          <p:cNvSpPr txBox="1"/>
          <p:nvPr/>
        </p:nvSpPr>
        <p:spPr>
          <a:xfrm>
            <a:off x="431906" y="7002200"/>
            <a:ext cx="9828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05.05.1.4.03 · Canton of Geneva · Notarial transactions, not listings · Grey = n&lt;10 (unpublished) · YoY vs 2023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1000" dirty="0"/>
            </a:br>
            <a:r>
              <a:rPr lang="en-GB" sz="1000" dirty="0"/>
              <a:t>Author's analysis · Raw data: OCSTAT T 05.05 series · Methodology and code:</a:t>
            </a:r>
            <a:r>
              <a:rPr lang="ru-RU" sz="1000" dirty="0"/>
              <a:t> </a:t>
            </a:r>
            <a:r>
              <a:rPr lang="en-GB" sz="1000" dirty="0"/>
              <a:t>https://github.com/slviktor/geneva-real-estate-market-analysis</a:t>
            </a:r>
            <a:endParaRPr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1813" y="121442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Geography · House Prices per Dwelling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OCSTAT · Detached houses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2000" y="720000"/>
            <a:ext cx="38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97706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30" y="5587579"/>
            <a:ext cx="9678639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</a:t>
            </a:r>
            <a:r>
              <a:rPr sz="1050" dirty="0" err="1"/>
              <a:t>Cologny</a:t>
            </a:r>
            <a:r>
              <a:rPr sz="1050" dirty="0"/>
              <a:t> dominates at 6.2M CHF/house — 3.7× more than Vernier (1.7M). A single canton, two different markets.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The premium belt along the lake (</a:t>
            </a:r>
            <a:r>
              <a:rPr sz="1050" dirty="0" err="1"/>
              <a:t>Cologny</a:t>
            </a:r>
            <a:r>
              <a:rPr sz="1050" dirty="0"/>
              <a:t>, Ch.-</a:t>
            </a:r>
            <a:r>
              <a:rPr sz="1050" dirty="0" err="1"/>
              <a:t>Bougeries</a:t>
            </a:r>
            <a:r>
              <a:rPr sz="1050" dirty="0"/>
              <a:t>, </a:t>
            </a:r>
            <a:r>
              <a:rPr sz="1050" dirty="0" err="1"/>
              <a:t>Vandoeuvres</a:t>
            </a:r>
            <a:r>
              <a:rPr sz="1050" dirty="0"/>
              <a:t>, </a:t>
            </a:r>
            <a:r>
              <a:rPr sz="1050" dirty="0" err="1"/>
              <a:t>Collonge</a:t>
            </a:r>
            <a:r>
              <a:rPr sz="1050" dirty="0"/>
              <a:t>-Bellerive) = 3.5–6.2M.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Genève city: −41% YoY (1.9M) — misleading, as only n=18 transactions in the city proper. House market is suburban.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Bernex: +23% YoY at 2.0M — the strongest grower among affordable suburbs.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More communes publish house data (15) than apartment CHF/m² (13) — houses trade in more communes.</a:t>
            </a:r>
          </a:p>
          <a:p>
            <a:pPr>
              <a:spcAft>
                <a:spcPts val="300"/>
              </a:spcAft>
              <a:defRPr sz="850">
                <a:solidFill>
                  <a:srgbClr val="6B7280"/>
                </a:solidFill>
                <a:latin typeface="Calibri"/>
              </a:defRPr>
            </a:pPr>
            <a:r>
              <a:rPr sz="1050" dirty="0"/>
              <a:t>▸ Note: prices are per dwelling, not per m². Larger houses cost more regardless of the location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7ABC3D-40AF-87B2-B60A-1D6FDB9C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0" y="111535"/>
            <a:ext cx="8316417" cy="54700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2000" y="43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50A40-F247-DDA9-93EA-669F09850760}"/>
              </a:ext>
            </a:extLst>
          </p:cNvPr>
          <p:cNvSpPr txBox="1"/>
          <p:nvPr/>
        </p:nvSpPr>
        <p:spPr>
          <a:xfrm>
            <a:off x="431906" y="7002200"/>
            <a:ext cx="9828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lang="en-GB" sz="900" dirty="0"/>
              <a:t>Source: OCSTAT T 05.05.1.3.03 · Canton of Geneva · Notarial transactions · Median CHF per dwelling (not per m²) · YoY vs 2023</a:t>
            </a:r>
          </a:p>
          <a:p>
            <a:pPr algn="r">
              <a:defRPr sz="700" b="0" i="0">
                <a:solidFill>
                  <a:srgbClr val="6B7280"/>
                </a:solidFill>
                <a:latin typeface="Calibri"/>
              </a:defRPr>
            </a:pPr>
            <a:br>
              <a:rPr lang="en-GB" sz="1000" dirty="0"/>
            </a:br>
            <a:r>
              <a:rPr lang="en-GB" sz="1000" dirty="0"/>
              <a:t>Author's analysis · Raw data: OCSTAT T 05.05 series · Methodology and code:</a:t>
            </a:r>
            <a:r>
              <a:rPr lang="ru-RU" sz="1000" dirty="0"/>
              <a:t> </a:t>
            </a:r>
            <a:r>
              <a:rPr lang="en-GB" sz="1000" dirty="0"/>
              <a:t>https://github.com/slviktor/geneva-real-estate-market-analysis</a:t>
            </a:r>
            <a:endParaRPr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1827</Words>
  <Application>Microsoft Office PowerPoint</Application>
  <PresentationFormat>Custom</PresentationFormat>
  <Paragraphs>100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17</cp:revision>
  <dcterms:created xsi:type="dcterms:W3CDTF">2013-01-27T09:14:16Z</dcterms:created>
  <dcterms:modified xsi:type="dcterms:W3CDTF">2026-08-19T11:17:31Z</dcterms:modified>
  <cp:category/>
</cp:coreProperties>
</file>
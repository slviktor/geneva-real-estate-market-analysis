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t>Geneva · Long-Term Price Dynamics · 1990–2025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Data Brief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680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563EB"/>
                </a:solidFill>
                <a:latin typeface="Calibri"/>
              </a:defRPr>
            </a:pPr>
            <a:r>
              <a:t>Three independent sources, one conclusion: Geneva real estate roughly tripled since 1990.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r_01_normalize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827999"/>
            <a:ext cx="4734000" cy="2879185"/>
          </a:xfrm>
          <a:prstGeom prst="rect">
            <a:avLst/>
          </a:prstGeom>
        </p:spPr>
      </p:pic>
      <p:pic>
        <p:nvPicPr>
          <p:cNvPr id="8" name="Picture 7" descr="lr_06_house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000" y="827999"/>
            <a:ext cx="4734000" cy="29918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" y="4608000"/>
            <a:ext cx="9828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Apartments: city +2.9%/yr nominal (+1.8% real), canton +2.5%/yr (+1.4% real) over 34 years. Houses: canton +2.4%/yr, Lake Geneva region +2.8%/yr. Prices roughly double every 25–28 years in nominal terms.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Official OCSTAT transactions and Wüest hedonic index show the same trajectory (correlation 0.99 on levels, 74–90% direction agreement). The trend is not an artifact of one measurement method.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Geneva follows the Swiss cycle but amplifies it: deeper corrections, steeper rises. CPI grew just +1.0%/yr — real estate outpaced inflation by +1.4–1.9 percentage points annually.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Sources: OCSTAT (notarial transactions, Canton of Geneva); Wüest Partner (hedonic index, not redistributed); BIS/FRED; BFS IMPI · Author’s calculations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t>Historical Drawdowns · What Happens After a Peak?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Apartments (PPE)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680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563EB"/>
                </a:solidFill>
                <a:latin typeface="Calibri"/>
              </a:defRPr>
            </a:pPr>
            <a:r>
              <a:t>Two completed correction cycles — both fully recovered, each new peak higher than the last.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r_05_drawdow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827999"/>
            <a:ext cx="9828000" cy="68269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4968000"/>
            <a:ext cx="9828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Worst case: Geneva city fell −25% from peak and took 14 years to recover (1990–2004). Canton: −21%, 16 years. Switzerland nationally: only −10% — Geneva amplifies the cycle 2×.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The second cycle (2012–2021) was milder: −10 to −12%, recovery in 6–9 years. Shorter, shallower — potentially a more resilient market or different rate environment.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After every drawdown, the new peak substantially exceeded the previous one. Long-term holders were always rewarded — but the holding period matters.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Sources: OCSTAT (notarial transactions, Canton of Geneva); Wüest Partner (hedonic index, not redistributed); BIS/FRED; BFS IMPI · Author’s calculations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t>Inflation, Construction Costs &amp; Growth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All indices: 1990 =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680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563EB"/>
                </a:solidFill>
                <a:latin typeface="Calibri"/>
              </a:defRPr>
            </a:pPr>
            <a:r>
              <a:t>Real estate outpaced inflation by +1.4–1.9 p.p./year. Construction costs surged after 2020.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r_07_prices_vs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827999"/>
            <a:ext cx="4734000" cy="318192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26000" y="864000"/>
          <a:ext cx="5040000" cy="27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2000"/>
                <a:gridCol w="864000"/>
                <a:gridCol w="792000"/>
                <a:gridCol w="792000"/>
                <a:gridCol w="720000"/>
              </a:tblGrid>
              <a:tr h="192857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Geography</a:t>
                      </a:r>
                    </a:p>
                  </a:txBody>
                  <a:tcPr marL="45720" marR="45720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marL="45720" marR="45720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Index</a:t>
                      </a:r>
                      <a:br/>
                      <a:r>
                        <a:t>(1990=100)</a:t>
                      </a:r>
                    </a:p>
                  </a:txBody>
                  <a:tcPr marL="45720" marR="45720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Nominal</a:t>
                      </a:r>
                      <a:br/>
                      <a:r>
                        <a:t>/year</a:t>
                      </a:r>
                    </a:p>
                  </a:txBody>
                  <a:tcPr marL="45720" marR="45720" marT="18288" marB="1828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</a:t>
                      </a:r>
                      <a:br/>
                      <a:r>
                        <a:t>/year</a:t>
                      </a:r>
                    </a:p>
                  </a:txBody>
                  <a:tcPr marL="45720" marR="45720" marT="18288" marB="18288">
                    <a:solidFill>
                      <a:srgbClr val="2563EB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APARTMENTS (PPE, CHF/m²)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Geneva city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264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+2.9%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+1.8%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Geneva canton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234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+2.5%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+1.4%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Lake Geneva region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278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+3.0%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+1.9%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Switzerland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235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+2.5%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+1.4%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HOUSES (CHF/object)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Geneva canton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232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+2.4%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+1.4%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Lake Geneva region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265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+2.8%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+1.8%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Switzerland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Wüest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231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+2.5%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+1.4%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INFLATION &amp; COSTS</a:t>
                      </a: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</a:p>
                  </a:txBody>
                  <a:tcPr marL="45720" marR="45720" marT="18288" marB="18288">
                    <a:solidFill>
                      <a:srgbClr val="EFF6FF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Geneva CPI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144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+1.0%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</a:tr>
              <a:tr h="192857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Switzerland CPI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BFS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+1.0%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192859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Geneva construction cost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OCSTAT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160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+1.3%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45720" marR="45720" marT="18288" marB="18288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000" y="4752000"/>
            <a:ext cx="9828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Geneva CPI +1.0%/yr, construction costs +1.3%/yr (with a sharp acceleration after 2020). Real estate nominal growth of +2.4–3.0%/yr translates to +1.4–1.9%/yr above inflation.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Construction cost surge (+18% in 4 years) supports the new-build price premium and limits future supply growth — a structural tailwind for existing property values.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Data: OCSTAT (official notarial transactions), Wüest Partner (hedonic quality-adjusted index), BIS/FRED, BFS IMPI. Full methodology and code: GitHub.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Sources: OCSTAT (notarial transactions, Canton of Geneva); Wüest Partner (hedonic index, not redistributed); BIS/FRED; BFS IMPI · Author’s calculations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9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180000"/>
            <a:ext cx="79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2937"/>
                </a:solidFill>
                <a:latin typeface="Calibri"/>
              </a:defRPr>
            </a:pPr>
            <a:r>
              <a:t>What Size Apartment Is Actually Selling?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0000" y="180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Geneva canton · 2006–2024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468000"/>
            <a:ext cx="982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563EB"/>
                </a:solidFill>
                <a:latin typeface="Calibri"/>
              </a:defRPr>
            </a:pPr>
            <a:r>
              <a:t>Proxy: median object price ÷ median CHF/m² — the implied typical floor area of a sold apartment.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7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r_08_implied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827999"/>
            <a:ext cx="9828000" cy="57366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2000" y="4752000"/>
            <a:ext cx="9828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Existing apartments: ~120 m², remarkably stable (+0.1%/yr over 18 years). The composition of what sells has barely changed — a consistent market for 3–4 room flats.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New apartments: ~140 m² in 2024, trending upward since 2014 (from ~125 m²). Developers are building larger, higher-value units. Early years (2006–2012) show high volatility due to small sample sizes.</a:t>
            </a:r>
          </a:p>
          <a:p>
            <a:pPr>
              <a:spcAft>
                <a:spcPts val="500"/>
              </a:spcAft>
              <a:defRPr sz="950">
                <a:solidFill>
                  <a:srgbClr val="6B7280"/>
                </a:solidFill>
                <a:latin typeface="Calibri"/>
              </a:defRPr>
            </a:pPr>
            <a:r>
              <a:t>▸ New apartments are ~17% larger than existing. This is a proxy (ratio of two medians, not median floor area directly), but the direction is consistent with market observations.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7020000"/>
            <a:ext cx="9828000" cy="72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000" y="7128000"/>
            <a:ext cx="982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7280"/>
                </a:solidFill>
                <a:latin typeface="Calibri"/>
              </a:defRPr>
            </a:pPr>
            <a:r>
              <a:t>Sources: OCSTAT (notarial transactions, Canton of Geneva); Wüest Partner (hedonic index, not redistributed); BIS/FRED; BFS IMPI · Author’s calculations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
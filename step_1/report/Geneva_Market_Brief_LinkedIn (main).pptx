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5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Geneva Canton · Residential Market · Q2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906" y="498151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9_q_latest_avg_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87" y="886766"/>
            <a:ext cx="5278043" cy="2919272"/>
          </a:xfrm>
          <a:prstGeom prst="rect">
            <a:avLst/>
          </a:prstGeom>
        </p:spPr>
      </p:pic>
      <p:pic>
        <p:nvPicPr>
          <p:cNvPr id="8" name="Picture 7" descr="14_q_latest_existing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030" y="886766"/>
            <a:ext cx="4649914" cy="2953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" y="4237824"/>
            <a:ext cx="9828000" cy="2423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</a:t>
            </a:r>
            <a:r>
              <a:rPr lang="en-GB" sz="1600" dirty="0"/>
              <a:t>Existing houses averaged about 2× the transaction value of existing apartments in Q2 2026 (CHF 3.57M vs CHF 1.76M)</a:t>
            </a:r>
            <a:endParaRPr lang="ru-RU" sz="1600" dirty="0"/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</a:t>
            </a:r>
            <a:r>
              <a:rPr lang="en-GB" sz="1600" dirty="0"/>
              <a:t>The apartment P50–P75 range overlaps with the house P25–P50 range at roughly CHF 1.6–1.9M</a:t>
            </a:r>
            <a:endParaRPr lang="ru-RU" sz="1600" dirty="0"/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All figures are completed notarial transactions (OCSTAT), not listings or appraisals. Left chart: average ticket. Right chart: official OCSTAT medians with P25–P75 range.</a:t>
            </a:r>
            <a:endParaRPr lang="ru-RU" sz="1600" dirty="0"/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Source: OCSTAT T 05.05 · Official notarial transactions, Canton of Geneva · Author’s calculations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770427-A0A4-640A-7464-1708DB30DE7F}"/>
              </a:ext>
            </a:extLst>
          </p:cNvPr>
          <p:cNvSpPr txBox="1"/>
          <p:nvPr/>
        </p:nvSpPr>
        <p:spPr>
          <a:xfrm>
            <a:off x="6660000" y="180000"/>
            <a:ext cx="36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OCSTAT · Canton of Geneva · </a:t>
            </a:r>
            <a:r>
              <a:rPr lang="en-US" dirty="0"/>
              <a:t>Quarterly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dirty="0"/>
              <a:t>Geography · Where Does It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lang="en-GB" dirty="0"/>
              <a:t>OCSTAT · Canton of Geneva · </a:t>
            </a:r>
            <a:r>
              <a:rPr dirty="0"/>
              <a:t>Annual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906" y="471599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b_map_a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9" y="706751"/>
            <a:ext cx="5737023" cy="40838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906" y="5065379"/>
            <a:ext cx="982800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1.8× apartment price gap across communes: 7K CHF/m² in Vernier vs 12.5K in </a:t>
            </a:r>
            <a:r>
              <a:rPr lang="en-GB" sz="1600" dirty="0" err="1"/>
              <a:t>Cologny</a:t>
            </a:r>
            <a:r>
              <a:rPr lang="en-GB" sz="1600" dirty="0"/>
              <a:t> — same 60m² flat costs 430K vs 740K.</a:t>
            </a:r>
          </a:p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Houses even more polarized: </a:t>
            </a:r>
            <a:r>
              <a:rPr lang="en-GB" sz="1600" dirty="0" err="1"/>
              <a:t>Cologny</a:t>
            </a:r>
            <a:r>
              <a:rPr lang="en-GB" sz="1600" dirty="0"/>
              <a:t> median (6.2M) is 3.7× Vernier (1.7M).</a:t>
            </a:r>
          </a:p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"New is cheaper" is a composition effect — within each commune, new apartments cost 17–29% more</a:t>
            </a:r>
            <a:r>
              <a:rPr lang="ru-RU" sz="1600" dirty="0"/>
              <a:t> (</a:t>
            </a:r>
            <a:r>
              <a:rPr lang="en-GB" sz="1600" dirty="0"/>
              <a:t>see the full version of the report</a:t>
            </a:r>
            <a:r>
              <a:rPr lang="ru-RU" sz="1600" dirty="0"/>
              <a:t>)</a:t>
            </a: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Source: OCSTAT T 05.05 · Official notarial transactions, Canton of Geneva · Author’s calculations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FEF85A-64B6-73FD-39B2-12ADEB193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148" y="659951"/>
            <a:ext cx="4691726" cy="42343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0000" y="18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OCSTAT · Canton of Geneva · Annual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6912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492714-38C1-B711-8966-2740ACB2C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6" y="571324"/>
            <a:ext cx="5242531" cy="29016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A934775-22CD-4565-4A59-987D16BB4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264" y="591837"/>
            <a:ext cx="5242531" cy="2942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BF9104-C1E6-BCFE-3CED-E69F15DBAF99}"/>
              </a:ext>
            </a:extLst>
          </p:cNvPr>
          <p:cNvSpPr txBox="1"/>
          <p:nvPr/>
        </p:nvSpPr>
        <p:spPr>
          <a:xfrm>
            <a:off x="344264" y="3730485"/>
            <a:ext cx="9828000" cy="1263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Apartments ×2 since 2006, houses ×3 since 1990 — no sustained decline after any correction in either market.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During downturns, P75 drops 2–3× faster than P25 — expensive segment corrects, the floor holds.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lang="en-GB" sz="1600" dirty="0"/>
              <a:t>▸ Post-2020: house price band widened sharply (premium surge); apartment band stayed stable.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7941E-DE4A-2C4D-60AD-710DCD2D5693}"/>
              </a:ext>
            </a:extLst>
          </p:cNvPr>
          <p:cNvSpPr txBox="1"/>
          <p:nvPr/>
        </p:nvSpPr>
        <p:spPr>
          <a:xfrm>
            <a:off x="246986" y="5444963"/>
            <a:ext cx="97236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F2937"/>
                </a:solidFill>
                <a:latin typeface="Calibri"/>
              </a:defRPr>
            </a:pPr>
            <a:r>
              <a:rPr sz="1600" dirty="0"/>
              <a:t>Source &amp; reproducibility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C9260-1CA2-EFBC-EEDC-462E25A80054}"/>
              </a:ext>
            </a:extLst>
          </p:cNvPr>
          <p:cNvSpPr txBox="1"/>
          <p:nvPr/>
        </p:nvSpPr>
        <p:spPr>
          <a:xfrm>
            <a:off x="344264" y="5788028"/>
            <a:ext cx="9827999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OCSTAT T 05.05 series — completed notarial transactions, Canton of Geneva. Published by the cantonal statistics office.</a:t>
            </a:r>
          </a:p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Calibri"/>
              </a:defRPr>
            </a:pPr>
            <a:r>
              <a:rPr sz="1600" dirty="0"/>
              <a:t>▸ All charts generated from raw data via Python (pandas, matplotlib). Code and methodology available on GitHub.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350FF-FD58-0D0F-16A4-917F9AE47141}"/>
              </a:ext>
            </a:extLst>
          </p:cNvPr>
          <p:cNvSpPr txBox="1"/>
          <p:nvPr/>
        </p:nvSpPr>
        <p:spPr>
          <a:xfrm>
            <a:off x="432000" y="7128000"/>
            <a:ext cx="9828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rPr dirty="0"/>
              <a:t>Source: OCSTAT T 05.05 · Official notarial transactions, Canton of Geneva · Author’s calculations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51E45-5C8C-2BFE-6559-75BE4827ECAE}"/>
              </a:ext>
            </a:extLst>
          </p:cNvPr>
          <p:cNvSpPr/>
          <p:nvPr/>
        </p:nvSpPr>
        <p:spPr>
          <a:xfrm>
            <a:off x="431906" y="471599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69074-4A26-F59E-974F-81A733EC4B1D}"/>
              </a:ext>
            </a:extLst>
          </p:cNvPr>
          <p:cNvSpPr txBox="1"/>
          <p:nvPr/>
        </p:nvSpPr>
        <p:spPr>
          <a:xfrm>
            <a:off x="432000" y="180000"/>
            <a:ext cx="792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rPr lang="en-GB" dirty="0"/>
              <a:t>Long-term Trends · How We Got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348</Words>
  <Application>Microsoft Office PowerPoint</Application>
  <PresentationFormat>Custom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</dc:creator>
  <cp:keywords/>
  <dc:description>generated using python-pptx</dc:description>
  <cp:lastModifiedBy>Geneva Viktor</cp:lastModifiedBy>
  <cp:revision>16</cp:revision>
  <dcterms:created xsi:type="dcterms:W3CDTF">2013-01-27T09:14:16Z</dcterms:created>
  <dcterms:modified xsi:type="dcterms:W3CDTF">2026-08-19T09:55:15Z</dcterms:modified>
  <cp:category/>
</cp:coreProperties>
</file>
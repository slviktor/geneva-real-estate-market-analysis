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5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60288"/>
            <a:ext cx="79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Geneva · Long-Term Price Dynamics · 1990–2025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Three independent sources, one conclusion: Geneva real estate roughly tripled since 1990.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r_01_normalize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12" y="972715"/>
            <a:ext cx="4801839" cy="3057830"/>
          </a:xfrm>
          <a:prstGeom prst="rect">
            <a:avLst/>
          </a:prstGeom>
        </p:spPr>
      </p:pic>
      <p:pic>
        <p:nvPicPr>
          <p:cNvPr id="8" name="Picture 7" descr="lr_06_hous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161" y="972715"/>
            <a:ext cx="4801839" cy="3034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2000" y="4624545"/>
            <a:ext cx="98280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Apartments: city +2.9%/yr nominal (+1.8% real), canton +2.5%/yr (+1.4% real) over 34 years. Houses: canton +2.5%/yr, Lake Geneva region +2.8%/yr. Prices roughly double every 25–28 years in nominal terms.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Official OCSTAT transactions and </a:t>
            </a:r>
            <a:r>
              <a:rPr sz="1400" dirty="0" err="1"/>
              <a:t>Wüest</a:t>
            </a:r>
            <a:r>
              <a:rPr sz="1400" dirty="0"/>
              <a:t> hedonic index show the same trajectory (correlation 0.99 on levels, 74–90% direction agreement). The trend is not an artifact of one measurement method.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Geneva follows the Swiss cycle but amplifies it: deeper corrections, steeper rises. CPI grew just +1.0%/yr — real estate outpaced inflation by +1.4–2.0 percentage points annually.</a:t>
            </a:r>
            <a:endParaRPr lang="ru-RU" sz="1400" dirty="0"/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endParaRPr sz="14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F33DC-E609-51F2-4FD5-39BBF29A71C0}"/>
              </a:ext>
            </a:extLst>
          </p:cNvPr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All indices: 1990 =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Historical Drawdowns · What Happens After a Peak?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Apartments (PPE)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Two completed correction cycles — both fully recovered, each new peak higher than the last.</a:t>
            </a:r>
          </a:p>
        </p:txBody>
      </p:sp>
      <p:pic>
        <p:nvPicPr>
          <p:cNvPr id="7" name="Picture 6" descr="lr_05_drawdow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7" y="180000"/>
            <a:ext cx="8004733" cy="55604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996" y="5748339"/>
            <a:ext cx="98280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Worst case: Geneva city fell −25% from peak and took 14 years to recover (1990–2004). Canton: −21%, 16 years. Switzerland nationally: only −10% — Geneva amplifies the cycle 2×.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The second cycle (2012–2021) was milder: −10 to −12%, recovery in 6–9 years. Shorter, shallower — potentially a more resilient market or different rate environment.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200" dirty="0"/>
              <a:t>▸ After every drawdown, the new peak substantially exceeded the previous one. Long-term holders were always rewarded — but the holding period matters.</a:t>
            </a:r>
            <a:endParaRPr lang="ru-RU" sz="1200" dirty="0"/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endParaRPr sz="1200" dirty="0"/>
          </a:p>
        </p:txBody>
      </p:sp>
      <p:sp>
        <p:nvSpPr>
          <p:cNvPr id="9" name="Rectangle 8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996" y="478952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Inflation, Construction Costs &amp; Growth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All indices: 1990 =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Real estate outpaced inflation by +1.4–2.0 p.p./year. Construction costs surged after 2020.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r_07_prices_vs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4734000" cy="31819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517419"/>
              </p:ext>
            </p:extLst>
          </p:nvPr>
        </p:nvGraphicFramePr>
        <p:xfrm>
          <a:off x="5345906" y="863999"/>
          <a:ext cx="5220094" cy="31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50" dirty="0"/>
                        <a:t>Geography</a:t>
                      </a:r>
                    </a:p>
                  </a:txBody>
                  <a:tcPr marL="45720" marR="45720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50" dirty="0"/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50" dirty="0"/>
                        <a:t>Index</a:t>
                      </a:r>
                      <a:br>
                        <a:rPr sz="1050" dirty="0"/>
                      </a:br>
                      <a:r>
                        <a:rPr sz="1050" dirty="0"/>
                        <a:t>(1990=100)</a:t>
                      </a:r>
                    </a:p>
                  </a:txBody>
                  <a:tcPr marL="45720" marR="45720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50" dirty="0"/>
                        <a:t>Nominal</a:t>
                      </a:r>
                      <a:br>
                        <a:rPr sz="1050" dirty="0"/>
                      </a:br>
                      <a:r>
                        <a:rPr sz="1050" dirty="0"/>
                        <a:t>/year</a:t>
                      </a:r>
                    </a:p>
                  </a:txBody>
                  <a:tcPr marL="45720" marR="45720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050" dirty="0"/>
                        <a:t>Real</a:t>
                      </a:r>
                      <a:br>
                        <a:rPr sz="1050" dirty="0"/>
                      </a:br>
                      <a:r>
                        <a:rPr sz="1050" dirty="0"/>
                        <a:t>/year</a:t>
                      </a:r>
                    </a:p>
                  </a:txBody>
                  <a:tcPr marL="45720" marR="45720" marT="18288" marB="18288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00"/>
                        <a:t>APARTMENTS (PPE, CHF/m²)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Geneva city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234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+3.1%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247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+2.6%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+1.6%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00"/>
                        <a:t>HOUSES (CHF/object)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235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231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rPr sz="1000"/>
                        <a:t>INFLATION &amp; COSTS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endParaRPr sz="1000"/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Geneva CPI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144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72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Switzerland CPI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BFS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140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72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 dirty="0"/>
                        <a:t>Geneva construction cost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160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/>
                        <a:t>+1.3%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rPr sz="1050" dirty="0"/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4752000"/>
            <a:ext cx="9828000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Geneva CPI +1.0%/yr, construction costs +1.3%/yr (with a sharp acceleration after 2020). Real estate nominal growth of +2.5–3.1%/yr translates to +1.4–2.0%/yr above inflation.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Construction cost surge (+18% in 4 years) supports the new-build price premium and limits future supply growth — a structural tailwind for existing property values.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rPr sz="1400" dirty="0"/>
              <a:t>▸ Data: OCSTAT (official notarial transactions), </a:t>
            </a:r>
            <a:r>
              <a:rPr sz="1400" dirty="0" err="1"/>
              <a:t>Wüest</a:t>
            </a:r>
            <a:r>
              <a:rPr sz="1400" dirty="0"/>
              <a:t> Partner (hedonic quality-adjusted index), BIS/FRED, BFS IMPI. Full methodology and code: GitHub.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631</Words>
  <Application>Microsoft Office PowerPoint</Application>
  <PresentationFormat>Custom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5</cp:revision>
  <dcterms:created xsi:type="dcterms:W3CDTF">2013-01-27T09:14:16Z</dcterms:created>
  <dcterms:modified xsi:type="dcterms:W3CDTF">2026-08-22T19:12:34Z</dcterms:modified>
  <cp:category/>
</cp:coreProperties>
</file>
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0" userDrawn="1">
          <p15:clr>
            <a:srgbClr val="A4A3A4"/>
          </p15:clr>
        </p15:guide>
        <p15:guide id="2" pos="1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634" y="90"/>
      </p:cViewPr>
      <p:guideLst>
        <p:guide orient="horz" pos="2830"/>
        <p:guide pos="1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890" y="2791654"/>
            <a:ext cx="4985414" cy="19262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9779" y="5092375"/>
            <a:ext cx="4105635" cy="22965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6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9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72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66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59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52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45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310" y="5774687"/>
            <a:ext cx="4985414" cy="1784827"/>
          </a:xfrm>
        </p:spPr>
        <p:txBody>
          <a:bodyPr anchor="t"/>
          <a:lstStyle>
            <a:lvl1pPr algn="l">
              <a:defRPr sz="256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310" y="3808881"/>
            <a:ext cx="4985414" cy="1965806"/>
          </a:xfrm>
        </p:spPr>
        <p:txBody>
          <a:bodyPr anchor="b"/>
          <a:lstStyle>
            <a:lvl1pPr marL="0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1pPr>
            <a:lvl2pPr marL="293248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86496" indent="0">
              <a:buNone/>
              <a:defRPr sz="1026">
                <a:solidFill>
                  <a:schemeClr val="tx1">
                    <a:tint val="75000"/>
                  </a:schemeClr>
                </a:solidFill>
              </a:defRPr>
            </a:lvl3pPr>
            <a:lvl4pPr marL="879744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4pPr>
            <a:lvl5pPr marL="1172992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5pPr>
            <a:lvl6pPr marL="1466240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6pPr>
            <a:lvl7pPr marL="1759488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7pPr>
            <a:lvl8pPr marL="2052737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8pPr>
            <a:lvl9pPr marL="2345985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260" y="2096861"/>
            <a:ext cx="2590460" cy="5930703"/>
          </a:xfrm>
        </p:spPr>
        <p:txBody>
          <a:bodyPr/>
          <a:lstStyle>
            <a:lvl1pPr>
              <a:defRPr sz="1796"/>
            </a:lvl1pPr>
            <a:lvl2pPr>
              <a:defRPr sz="1539"/>
            </a:lvl2pPr>
            <a:lvl3pPr>
              <a:defRPr sz="1283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81474" y="2096861"/>
            <a:ext cx="2590460" cy="5930703"/>
          </a:xfrm>
        </p:spPr>
        <p:txBody>
          <a:bodyPr/>
          <a:lstStyle>
            <a:lvl1pPr>
              <a:defRPr sz="1796"/>
            </a:lvl1pPr>
            <a:lvl2pPr>
              <a:defRPr sz="1539"/>
            </a:lvl2pPr>
            <a:lvl3pPr>
              <a:defRPr sz="1283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260" y="2011572"/>
            <a:ext cx="2591479" cy="838327"/>
          </a:xfrm>
        </p:spPr>
        <p:txBody>
          <a:bodyPr anchor="b"/>
          <a:lstStyle>
            <a:lvl1pPr marL="0" indent="0">
              <a:buNone/>
              <a:defRPr sz="1539" b="1"/>
            </a:lvl1pPr>
            <a:lvl2pPr marL="293248" indent="0">
              <a:buNone/>
              <a:defRPr sz="1283" b="1"/>
            </a:lvl2pPr>
            <a:lvl3pPr marL="586496" indent="0">
              <a:buNone/>
              <a:defRPr sz="1155" b="1"/>
            </a:lvl3pPr>
            <a:lvl4pPr marL="879744" indent="0">
              <a:buNone/>
              <a:defRPr sz="1026" b="1"/>
            </a:lvl4pPr>
            <a:lvl5pPr marL="1172992" indent="0">
              <a:buNone/>
              <a:defRPr sz="1026" b="1"/>
            </a:lvl5pPr>
            <a:lvl6pPr marL="1466240" indent="0">
              <a:buNone/>
              <a:defRPr sz="1026" b="1"/>
            </a:lvl6pPr>
            <a:lvl7pPr marL="1759488" indent="0">
              <a:buNone/>
              <a:defRPr sz="1026" b="1"/>
            </a:lvl7pPr>
            <a:lvl8pPr marL="2052737" indent="0">
              <a:buNone/>
              <a:defRPr sz="1026" b="1"/>
            </a:lvl8pPr>
            <a:lvl9pPr marL="2345985" indent="0">
              <a:buNone/>
              <a:defRPr sz="10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260" y="2849899"/>
            <a:ext cx="2591479" cy="5177664"/>
          </a:xfrm>
        </p:spPr>
        <p:txBody>
          <a:bodyPr/>
          <a:lstStyle>
            <a:lvl1pPr>
              <a:defRPr sz="1539"/>
            </a:lvl1pPr>
            <a:lvl2pPr>
              <a:defRPr sz="1283"/>
            </a:lvl2pPr>
            <a:lvl3pPr>
              <a:defRPr sz="1155"/>
            </a:lvl3pPr>
            <a:lvl4pPr>
              <a:defRPr sz="1026"/>
            </a:lvl4pPr>
            <a:lvl5pPr>
              <a:defRPr sz="1026"/>
            </a:lvl5pPr>
            <a:lvl6pPr>
              <a:defRPr sz="1026"/>
            </a:lvl6pPr>
            <a:lvl7pPr>
              <a:defRPr sz="1026"/>
            </a:lvl7pPr>
            <a:lvl8pPr>
              <a:defRPr sz="1026"/>
            </a:lvl8pPr>
            <a:lvl9pPr>
              <a:defRPr sz="10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79437" y="2011572"/>
            <a:ext cx="2592497" cy="838327"/>
          </a:xfrm>
        </p:spPr>
        <p:txBody>
          <a:bodyPr anchor="b"/>
          <a:lstStyle>
            <a:lvl1pPr marL="0" indent="0">
              <a:buNone/>
              <a:defRPr sz="1539" b="1"/>
            </a:lvl1pPr>
            <a:lvl2pPr marL="293248" indent="0">
              <a:buNone/>
              <a:defRPr sz="1283" b="1"/>
            </a:lvl2pPr>
            <a:lvl3pPr marL="586496" indent="0">
              <a:buNone/>
              <a:defRPr sz="1155" b="1"/>
            </a:lvl3pPr>
            <a:lvl4pPr marL="879744" indent="0">
              <a:buNone/>
              <a:defRPr sz="1026" b="1"/>
            </a:lvl4pPr>
            <a:lvl5pPr marL="1172992" indent="0">
              <a:buNone/>
              <a:defRPr sz="1026" b="1"/>
            </a:lvl5pPr>
            <a:lvl6pPr marL="1466240" indent="0">
              <a:buNone/>
              <a:defRPr sz="1026" b="1"/>
            </a:lvl6pPr>
            <a:lvl7pPr marL="1759488" indent="0">
              <a:buNone/>
              <a:defRPr sz="1026" b="1"/>
            </a:lvl7pPr>
            <a:lvl8pPr marL="2052737" indent="0">
              <a:buNone/>
              <a:defRPr sz="1026" b="1"/>
            </a:lvl8pPr>
            <a:lvl9pPr marL="2345985" indent="0">
              <a:buNone/>
              <a:defRPr sz="10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79437" y="2849899"/>
            <a:ext cx="2592497" cy="5177664"/>
          </a:xfrm>
        </p:spPr>
        <p:txBody>
          <a:bodyPr/>
          <a:lstStyle>
            <a:lvl1pPr>
              <a:defRPr sz="1539"/>
            </a:lvl1pPr>
            <a:lvl2pPr>
              <a:defRPr sz="1283"/>
            </a:lvl2pPr>
            <a:lvl3pPr>
              <a:defRPr sz="1155"/>
            </a:lvl3pPr>
            <a:lvl4pPr>
              <a:defRPr sz="1026"/>
            </a:lvl4pPr>
            <a:lvl5pPr>
              <a:defRPr sz="1026"/>
            </a:lvl5pPr>
            <a:lvl6pPr>
              <a:defRPr sz="1026"/>
            </a:lvl6pPr>
            <a:lvl7pPr>
              <a:defRPr sz="1026"/>
            </a:lvl7pPr>
            <a:lvl8pPr>
              <a:defRPr sz="1026"/>
            </a:lvl8pPr>
            <a:lvl9pPr>
              <a:defRPr sz="10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260" y="357797"/>
            <a:ext cx="1929608" cy="1522720"/>
          </a:xfrm>
        </p:spPr>
        <p:txBody>
          <a:bodyPr anchor="b"/>
          <a:lstStyle>
            <a:lvl1pPr algn="l">
              <a:defRPr sz="12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3128" y="357798"/>
            <a:ext cx="3278806" cy="7669766"/>
          </a:xfrm>
        </p:spPr>
        <p:txBody>
          <a:bodyPr/>
          <a:lstStyle>
            <a:lvl1pPr>
              <a:defRPr sz="2052"/>
            </a:lvl1pPr>
            <a:lvl2pPr>
              <a:defRPr sz="1796"/>
            </a:lvl2pPr>
            <a:lvl3pPr>
              <a:defRPr sz="1539"/>
            </a:lvl3pPr>
            <a:lvl4pPr>
              <a:defRPr sz="1283"/>
            </a:lvl4pPr>
            <a:lvl5pPr>
              <a:defRPr sz="1283"/>
            </a:lvl5pPr>
            <a:lvl6pPr>
              <a:defRPr sz="1283"/>
            </a:lvl6pPr>
            <a:lvl7pPr>
              <a:defRPr sz="1283"/>
            </a:lvl7pPr>
            <a:lvl8pPr>
              <a:defRPr sz="1283"/>
            </a:lvl8pPr>
            <a:lvl9pPr>
              <a:defRPr sz="12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3260" y="1880518"/>
            <a:ext cx="1929608" cy="6147046"/>
          </a:xfrm>
        </p:spPr>
        <p:txBody>
          <a:bodyPr/>
          <a:lstStyle>
            <a:lvl1pPr marL="0" indent="0">
              <a:buNone/>
              <a:defRPr sz="898"/>
            </a:lvl1pPr>
            <a:lvl2pPr marL="293248" indent="0">
              <a:buNone/>
              <a:defRPr sz="770"/>
            </a:lvl2pPr>
            <a:lvl3pPr marL="586496" indent="0">
              <a:buNone/>
              <a:defRPr sz="641"/>
            </a:lvl3pPr>
            <a:lvl4pPr marL="879744" indent="0">
              <a:buNone/>
              <a:defRPr sz="577"/>
            </a:lvl4pPr>
            <a:lvl5pPr marL="1172992" indent="0">
              <a:buNone/>
              <a:defRPr sz="577"/>
            </a:lvl5pPr>
            <a:lvl6pPr marL="1466240" indent="0">
              <a:buNone/>
              <a:defRPr sz="577"/>
            </a:lvl6pPr>
            <a:lvl7pPr marL="1759488" indent="0">
              <a:buNone/>
              <a:defRPr sz="577"/>
            </a:lvl7pPr>
            <a:lvl8pPr marL="2052737" indent="0">
              <a:buNone/>
              <a:defRPr sz="577"/>
            </a:lvl8pPr>
            <a:lvl9pPr marL="2345985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619" y="6290580"/>
            <a:ext cx="3519116" cy="742639"/>
          </a:xfrm>
        </p:spPr>
        <p:txBody>
          <a:bodyPr anchor="b"/>
          <a:lstStyle>
            <a:lvl1pPr algn="l">
              <a:defRPr sz="12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9619" y="802964"/>
            <a:ext cx="3519116" cy="5391926"/>
          </a:xfrm>
        </p:spPr>
        <p:txBody>
          <a:bodyPr/>
          <a:lstStyle>
            <a:lvl1pPr marL="0" indent="0">
              <a:buNone/>
              <a:defRPr sz="2052"/>
            </a:lvl1pPr>
            <a:lvl2pPr marL="293248" indent="0">
              <a:buNone/>
              <a:defRPr sz="1796"/>
            </a:lvl2pPr>
            <a:lvl3pPr marL="586496" indent="0">
              <a:buNone/>
              <a:defRPr sz="1539"/>
            </a:lvl3pPr>
            <a:lvl4pPr marL="879744" indent="0">
              <a:buNone/>
              <a:defRPr sz="1283"/>
            </a:lvl4pPr>
            <a:lvl5pPr marL="1172992" indent="0">
              <a:buNone/>
              <a:defRPr sz="1283"/>
            </a:lvl5pPr>
            <a:lvl6pPr marL="1466240" indent="0">
              <a:buNone/>
              <a:defRPr sz="1283"/>
            </a:lvl6pPr>
            <a:lvl7pPr marL="1759488" indent="0">
              <a:buNone/>
              <a:defRPr sz="1283"/>
            </a:lvl7pPr>
            <a:lvl8pPr marL="2052737" indent="0">
              <a:buNone/>
              <a:defRPr sz="1283"/>
            </a:lvl8pPr>
            <a:lvl9pPr marL="2345985" indent="0">
              <a:buNone/>
              <a:defRPr sz="128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9619" y="7033219"/>
            <a:ext cx="3519116" cy="1054670"/>
          </a:xfrm>
        </p:spPr>
        <p:txBody>
          <a:bodyPr/>
          <a:lstStyle>
            <a:lvl1pPr marL="0" indent="0">
              <a:buNone/>
              <a:defRPr sz="898"/>
            </a:lvl1pPr>
            <a:lvl2pPr marL="293248" indent="0">
              <a:buNone/>
              <a:defRPr sz="770"/>
            </a:lvl2pPr>
            <a:lvl3pPr marL="586496" indent="0">
              <a:buNone/>
              <a:defRPr sz="641"/>
            </a:lvl3pPr>
            <a:lvl4pPr marL="879744" indent="0">
              <a:buNone/>
              <a:defRPr sz="577"/>
            </a:lvl4pPr>
            <a:lvl5pPr marL="1172992" indent="0">
              <a:buNone/>
              <a:defRPr sz="577"/>
            </a:lvl5pPr>
            <a:lvl6pPr marL="1466240" indent="0">
              <a:buNone/>
              <a:defRPr sz="577"/>
            </a:lvl6pPr>
            <a:lvl7pPr marL="1759488" indent="0">
              <a:buNone/>
              <a:defRPr sz="577"/>
            </a:lvl7pPr>
            <a:lvl8pPr marL="2052737" indent="0">
              <a:buNone/>
              <a:defRPr sz="577"/>
            </a:lvl8pPr>
            <a:lvl9pPr marL="2345985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2265" y="359879"/>
            <a:ext cx="1319669" cy="7667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260" y="359879"/>
            <a:ext cx="3861252" cy="76676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260" y="359879"/>
            <a:ext cx="5278674" cy="1497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260" y="2096861"/>
            <a:ext cx="5278674" cy="5930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3260" y="8329195"/>
            <a:ext cx="1368545" cy="478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3941" y="8329195"/>
            <a:ext cx="1857311" cy="478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3389" y="8329195"/>
            <a:ext cx="1368545" cy="478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3248" rtl="0" eaLnBrk="1" latinLnBrk="0" hangingPunct="1">
        <a:spcBef>
          <a:spcPct val="0"/>
        </a:spcBef>
        <a:buNone/>
        <a:defRPr sz="2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936" indent="-219936" algn="l" defTabSz="293248" rtl="0" eaLnBrk="1" latinLnBrk="0" hangingPunct="1">
        <a:spcBef>
          <a:spcPct val="20000"/>
        </a:spcBef>
        <a:buFont typeface="Arial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1pPr>
      <a:lvl2pPr marL="476528" indent="-183280" algn="l" defTabSz="293248" rtl="0" eaLnBrk="1" latinLnBrk="0" hangingPunct="1">
        <a:spcBef>
          <a:spcPct val="20000"/>
        </a:spcBef>
        <a:buFont typeface="Arial"/>
        <a:buChar char="–"/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733120" indent="-146624" algn="l" defTabSz="293248" rtl="0" eaLnBrk="1" latinLnBrk="0" hangingPunct="1">
        <a:spcBef>
          <a:spcPct val="20000"/>
        </a:spcBef>
        <a:buFont typeface="Arial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026368" indent="-146624" algn="l" defTabSz="293248" rtl="0" eaLnBrk="1" latinLnBrk="0" hangingPunct="1">
        <a:spcBef>
          <a:spcPct val="20000"/>
        </a:spcBef>
        <a:buFont typeface="Arial"/>
        <a:buChar char="–"/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319616" indent="-146624" algn="l" defTabSz="293248" rtl="0" eaLnBrk="1" latinLnBrk="0" hangingPunct="1">
        <a:spcBef>
          <a:spcPct val="20000"/>
        </a:spcBef>
        <a:buFont typeface="Arial"/>
        <a:buChar char="»"/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612864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1906113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199361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492609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93248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2pPr>
      <a:lvl3pPr marL="586496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879744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4pPr>
      <a:lvl5pPr marL="1172992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5pPr>
      <a:lvl6pPr marL="1466240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6pPr>
      <a:lvl7pPr marL="1759488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7pPr>
      <a:lvl8pPr marL="2052737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8pPr>
      <a:lvl9pPr marL="2345985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483"/>
            <a:ext cx="6858120" cy="57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55"/>
          </a:p>
        </p:txBody>
      </p:sp>
      <p:sp>
        <p:nvSpPr>
          <p:cNvPr id="3" name="TextBox 2"/>
          <p:cNvSpPr txBox="1"/>
          <p:nvPr/>
        </p:nvSpPr>
        <p:spPr>
          <a:xfrm>
            <a:off x="162796" y="97082"/>
            <a:ext cx="50800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Geneva Canton · Residential Market · Q2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9420" y="108784"/>
            <a:ext cx="1847305" cy="23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rPr sz="898" i="1" dirty="0"/>
              <a:t>Data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96" y="320827"/>
            <a:ext cx="5199779" cy="20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rPr sz="70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Apartments and houses are two different markets — different metrics, different dynamics.</a:t>
            </a:r>
          </a:p>
        </p:txBody>
      </p:sp>
      <p:pic>
        <p:nvPicPr>
          <p:cNvPr id="7" name="Picture 6" descr="09_q_latest_avg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6" y="551739"/>
            <a:ext cx="3277782" cy="1812933"/>
          </a:xfrm>
          <a:prstGeom prst="rect">
            <a:avLst/>
          </a:prstGeom>
        </p:spPr>
      </p:pic>
      <p:pic>
        <p:nvPicPr>
          <p:cNvPr id="8" name="Picture 7" descr="14_q_latest_existing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551739"/>
            <a:ext cx="2818650" cy="17904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96" y="2377185"/>
            <a:ext cx="630392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A house costs on average 2× more than an apartment (3.6M vs 1.8M CHF), but house prices are plateauing while apartments keep rising.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Apartment P75 (~1.9M) meets house P25 (~1.6M) — the decision boundary between a large apartment and a modest house.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All figures are completed notarial transactions (OCSTAT), not listings or appraisals. Left chart: average ticket. Right chart: official OCSTAT medians with P25–P75 range.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35" y="9619903"/>
            <a:ext cx="6303929" cy="461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55"/>
          </a:p>
        </p:txBody>
      </p:sp>
      <p:sp>
        <p:nvSpPr>
          <p:cNvPr id="11" name="TextBox 10"/>
          <p:cNvSpPr txBox="1"/>
          <p:nvPr/>
        </p:nvSpPr>
        <p:spPr>
          <a:xfrm>
            <a:off x="277035" y="9689177"/>
            <a:ext cx="6303929" cy="161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sz="449"/>
              <a:t>Source: OCSTAT T 05.05 · Official notarial transactions, Canton of Geneva · Author’s calculations</a:t>
            </a:r>
          </a:p>
        </p:txBody>
      </p:sp>
      <p:pic>
        <p:nvPicPr>
          <p:cNvPr id="13" name="Picture 12" descr="03b_map_apartments.png">
            <a:extLst>
              <a:ext uri="{FF2B5EF4-FFF2-40B4-BE49-F238E27FC236}">
                <a16:creationId xmlns:a16="http://schemas.microsoft.com/office/drawing/2014/main" id="{E84D2A7A-78D9-55C3-618F-56E06D234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96" y="3183579"/>
            <a:ext cx="3036508" cy="1981803"/>
          </a:xfrm>
          <a:prstGeom prst="rect">
            <a:avLst/>
          </a:prstGeom>
        </p:spPr>
      </p:pic>
      <p:pic>
        <p:nvPicPr>
          <p:cNvPr id="14" name="Picture 13" descr="03c_map_houses.png">
            <a:extLst>
              <a:ext uri="{FF2B5EF4-FFF2-40B4-BE49-F238E27FC236}">
                <a16:creationId xmlns:a16="http://schemas.microsoft.com/office/drawing/2014/main" id="{C09E9395-FC73-7654-901A-85ED22A44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0217" y="3183579"/>
            <a:ext cx="3036508" cy="19972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8D18D7-1449-3880-89D0-233DF3414596}"/>
              </a:ext>
            </a:extLst>
          </p:cNvPr>
          <p:cNvSpPr txBox="1"/>
          <p:nvPr/>
        </p:nvSpPr>
        <p:spPr>
          <a:xfrm>
            <a:off x="162796" y="5300004"/>
            <a:ext cx="630392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257"/>
              </a:spcAft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defRPr>
            </a:lvl1pPr>
          </a:lstStyle>
          <a:p>
            <a:r>
              <a:rPr dirty="0"/>
              <a:t>▸ Apartments: premium lakeside (</a:t>
            </a:r>
            <a:r>
              <a:rPr dirty="0" err="1"/>
              <a:t>Cologny</a:t>
            </a:r>
            <a:r>
              <a:rPr dirty="0"/>
              <a:t>, </a:t>
            </a:r>
            <a:r>
              <a:rPr dirty="0" err="1"/>
              <a:t>Chêne-Bougeries</a:t>
            </a:r>
            <a:r>
              <a:rPr dirty="0"/>
              <a:t>: 12–12.5K CHF/m²) vs western suburbs (Vernier, Bernex: 7–9K). A 60m² flat costs 430K in Vernier vs 750K in </a:t>
            </a:r>
            <a:r>
              <a:rPr dirty="0" err="1"/>
              <a:t>Cologny</a:t>
            </a:r>
            <a:r>
              <a:rPr dirty="0"/>
              <a:t>.</a:t>
            </a:r>
          </a:p>
          <a:p>
            <a:r>
              <a:rPr dirty="0"/>
              <a:t>▸ Houses: </a:t>
            </a:r>
            <a:r>
              <a:rPr dirty="0" err="1"/>
              <a:t>Cologny</a:t>
            </a:r>
            <a:r>
              <a:rPr dirty="0"/>
              <a:t> median (6.2M) is 3.7× Vernier (1.7M). Most extreme divergence in the canton.</a:t>
            </a:r>
          </a:p>
          <a:p>
            <a:r>
              <a:rPr dirty="0"/>
              <a:t>▸ “New is cheaper” at canton level is a composition effect — new builds concentrate in affordable communes. Within each commune, new costs 17–29% more.</a:t>
            </a:r>
          </a:p>
        </p:txBody>
      </p:sp>
      <p:pic>
        <p:nvPicPr>
          <p:cNvPr id="20" name="Picture 19" descr="21_quarterly_corrid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57" y="6268864"/>
            <a:ext cx="3036508" cy="24232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40578" y="6250818"/>
            <a:ext cx="30365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2937"/>
                </a:solidFill>
                <a:latin typeface="Calibri"/>
              </a:defRPr>
            </a:pPr>
            <a:r>
              <a:rPr sz="800"/>
              <a:t>What this brief shows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0578" y="6412457"/>
            <a:ext cx="30365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Apartments in CHF/m² (PPE), houses in CHF per dwelling — different units, never mixed.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Median and quartiles (P25–P75), not averages. Averages shown only where OCSTAT publishes no median.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Communes with n&lt;10 transactions are shown as grey, not zero. Small samples are flagged.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0578" y="7405383"/>
            <a:ext cx="30365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2937"/>
                </a:solidFill>
                <a:latin typeface="Calibri"/>
              </a:defRPr>
            </a:pPr>
            <a:r>
              <a:rPr sz="800"/>
              <a:t>18 years of 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0578" y="7567022"/>
            <a:ext cx="30365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Three macro shocks (2008, COVID, 2022 rate hikes) — no sustained median decline. Volumes absorb shocks, prices hold.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House P75 surged +64% in 2021–2023 then retreated — premium segment reacts, median absorbs.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Apartment median continues to climb; house median plateaus in 2026. Two markets are diverging.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0578" y="8559949"/>
            <a:ext cx="30365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2937"/>
                </a:solidFill>
                <a:latin typeface="Calibri"/>
              </a:defRPr>
            </a:pPr>
            <a:r>
              <a:rPr sz="800"/>
              <a:t>Source &amp; 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0578" y="8721588"/>
            <a:ext cx="303650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OCSTAT T 05.05 series — completed notarial transactions, Canton of Geneva. Published by the cantonal statistics office.</a:t>
            </a:r>
          </a:p>
          <a:p>
            <a:pPr>
              <a:spcAft>
                <a:spcPts val="257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▸ All charts generated from raw data via Python (pandas, matplotlib). Code and methodology available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394</Words>
  <Application>Microsoft Office PowerPoint</Application>
  <PresentationFormat>A4 Paper (210x297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</dc:creator>
  <cp:keywords/>
  <dc:description>generated using python-pptx</dc:description>
  <cp:lastModifiedBy>Geneva Viktor</cp:lastModifiedBy>
  <cp:revision>2</cp:revision>
  <dcterms:created xsi:type="dcterms:W3CDTF">2013-01-27T09:14:16Z</dcterms:created>
  <dcterms:modified xsi:type="dcterms:W3CDTF">2026-08-18T16:25:52Z</dcterms:modified>
  <cp:category/>
</cp:coreProperties>
</file>